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embeddedFontLst>
    <p:embeddedFont>
      <p:font typeface="Merriweather" panose="00000500000000000000" pitchFamily="2" charset="0"/>
      <p:regular r:id="rId27"/>
      <p:bold r:id="rId28"/>
      <p:italic r:id="rId29"/>
      <p:boldItalic r:id="rId30"/>
    </p:embeddedFont>
    <p:embeddedFont>
      <p:font typeface="Roboto" panose="020000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661952a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4661952a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661952a2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4661952a2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6577e5106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6577e5106_2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6577e5106_2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6577e5106_2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6577e5106_2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56577e5106_2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6463e4937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6463e4937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664303713_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4664303713_2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56577e5106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56577e5106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3e5d77d4d1_4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3e5d77d4d1_4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6577e5106_2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56577e5106_2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57242ec0f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57242ec0f4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664303713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4664303713_2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3e5d77d4d1_4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3e5d77d4d1_4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3e5d77d4d1_4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3e5d77d4d1_4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3e5d77d4d1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3e5d77d4d1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3e5d77d4d1_4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3e5d77d4d1_4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4664303713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4664303713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5681325c8f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5681325c8f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3e5d77d4d1_4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3e5d77d4d1_4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3e5d77d4d1_4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3e5d77d4d1_4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46463e493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46463e493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4a9823aee7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4a9823aee7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4a9823aee7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4a9823aee7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HEipm-nvRvbeAttSOTSiTkivT9cgsbUG/view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ZNTW1jtFYVS7sgO_SCndLRC39UuE8I_u/view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473300" y="-98475"/>
            <a:ext cx="8520600" cy="103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50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ULPAC: A Miniaturized Ultralow-Power Atomic Clock DEP Presentation (CP301) </a:t>
            </a:r>
            <a:endParaRPr sz="2350">
              <a:solidFill>
                <a:srgbClr val="FF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705300" y="936500"/>
            <a:ext cx="7733400" cy="2909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38761D"/>
                </a:solidFill>
                <a:highlight>
                  <a:srgbClr val="FFF2CC"/>
                </a:highlight>
              </a:rPr>
              <a:t>Prepared by:</a:t>
            </a:r>
            <a:endParaRPr sz="1700" b="1">
              <a:solidFill>
                <a:srgbClr val="38761D"/>
              </a:solidFill>
              <a:highlight>
                <a:srgbClr val="FFF2CC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38761D"/>
                </a:solidFill>
                <a:highlight>
                  <a:srgbClr val="FFF2CC"/>
                </a:highlight>
              </a:rPr>
              <a:t>Aryan Arora(2022EEB1161) </a:t>
            </a:r>
            <a:endParaRPr sz="1700" b="1">
              <a:solidFill>
                <a:srgbClr val="38761D"/>
              </a:solidFill>
              <a:highlight>
                <a:srgbClr val="FFF2CC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38761D"/>
                </a:solidFill>
                <a:highlight>
                  <a:srgbClr val="FFF2CC"/>
                </a:highlight>
              </a:rPr>
              <a:t>Srijan Kumar Kar (2022EEB1349) &amp;</a:t>
            </a:r>
            <a:endParaRPr sz="1700" b="1">
              <a:solidFill>
                <a:srgbClr val="38761D"/>
              </a:solidFill>
              <a:highlight>
                <a:srgbClr val="FFF2CC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38761D"/>
                </a:solidFill>
                <a:highlight>
                  <a:srgbClr val="FFF2CC"/>
                </a:highlight>
              </a:rPr>
              <a:t> Samarth Bajpai (2022EEB1212) </a:t>
            </a:r>
            <a:endParaRPr sz="1700" b="1">
              <a:solidFill>
                <a:srgbClr val="38761D"/>
              </a:solidFill>
              <a:highlight>
                <a:srgbClr val="FFF2CC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E69138"/>
                </a:solidFill>
                <a:highlight>
                  <a:srgbClr val="FFF2CC"/>
                </a:highlight>
              </a:rPr>
              <a:t>Mentored by: Azhar Yaseen N.J. </a:t>
            </a:r>
            <a:endParaRPr sz="1700" b="1">
              <a:solidFill>
                <a:srgbClr val="E69138"/>
              </a:solidFill>
              <a:highlight>
                <a:srgbClr val="FFF2CC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0000FF"/>
                </a:solidFill>
                <a:highlight>
                  <a:srgbClr val="FFF2CC"/>
                </a:highlight>
              </a:rPr>
              <a:t>Supervised By: Dr. Devarshi Mrinal Da</a:t>
            </a:r>
            <a:r>
              <a:rPr lang="en" sz="1700" b="1">
                <a:solidFill>
                  <a:srgbClr val="0000FF"/>
                </a:solidFill>
                <a:highlight>
                  <a:schemeClr val="lt1"/>
                </a:highlight>
              </a:rPr>
              <a:t>s </a:t>
            </a:r>
            <a:endParaRPr sz="1700" b="1">
              <a:solidFill>
                <a:srgbClr val="0000FF"/>
              </a:solidFill>
              <a:highlight>
                <a:schemeClr val="lt1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rgbClr val="0000FF"/>
              </a:solidFill>
              <a:highlight>
                <a:schemeClr val="lt1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0000FF"/>
              </a:solidFill>
              <a:highlight>
                <a:schemeClr val="lt1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0000FF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0000FF"/>
              </a:solidFill>
              <a:highlight>
                <a:schemeClr val="lt1"/>
              </a:highlight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2000" y="2708500"/>
            <a:ext cx="1860000" cy="14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1012350" y="4194350"/>
            <a:ext cx="7119300" cy="7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DEPARTMENT OF ELECTRICAL ENGINEERING INDIAN INSTITUTE OF TECHNOLOGY, ROPAR </a:t>
            </a:r>
            <a:endParaRPr sz="17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2025  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ctrTitle"/>
          </p:nvPr>
        </p:nvSpPr>
        <p:spPr>
          <a:xfrm>
            <a:off x="211500" y="157075"/>
            <a:ext cx="8520600" cy="53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Introduction</a:t>
            </a:r>
            <a:endParaRPr sz="2300"/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1"/>
          </p:nvPr>
        </p:nvSpPr>
        <p:spPr>
          <a:xfrm>
            <a:off x="235500" y="863175"/>
            <a:ext cx="8520600" cy="40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A </a:t>
            </a:r>
            <a:r>
              <a:rPr lang="en" sz="1400" b="1">
                <a:solidFill>
                  <a:schemeClr val="dk1"/>
                </a:solidFill>
              </a:rPr>
              <a:t>Chip-Scale Atomic Clock (CSAC)</a:t>
            </a:r>
            <a:r>
              <a:rPr lang="en" sz="1400">
                <a:solidFill>
                  <a:schemeClr val="dk1"/>
                </a:solidFill>
              </a:rPr>
              <a:t> is a miniaturized atomic clock that provides highly accurate timekeeping in a compact, low-power package.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It is based on atomic resonance principles including </a:t>
            </a:r>
            <a:r>
              <a:rPr lang="en" sz="1400" i="1">
                <a:solidFill>
                  <a:schemeClr val="dk1"/>
                </a:solidFill>
              </a:rPr>
              <a:t>coherent population trapping </a:t>
            </a:r>
            <a:r>
              <a:rPr lang="en" sz="1400">
                <a:solidFill>
                  <a:schemeClr val="dk1"/>
                </a:solidFill>
              </a:rPr>
              <a:t>(CPT) techniques. CSACs are widely used in applications where precise timing is essential, such as GPS-denied navigation, secure communications, and scientific measurements.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solidFill>
                  <a:schemeClr val="dk1"/>
                </a:solidFill>
              </a:rPr>
              <a:t>Desired Characteristics of CSAC</a:t>
            </a:r>
            <a:endParaRPr sz="1400"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 b="1">
                <a:solidFill>
                  <a:schemeClr val="dk1"/>
                </a:solidFill>
              </a:rPr>
              <a:t>High Accuracy</a:t>
            </a:r>
            <a:r>
              <a:rPr lang="en" sz="1400">
                <a:solidFill>
                  <a:schemeClr val="dk1"/>
                </a:solidFill>
              </a:rPr>
              <a:t> – Provides precise timekeeping with minimal drift, featuring a frequency stability of 2.2 × 10⁻¹² over 10⁵ seconds.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 b="1">
                <a:solidFill>
                  <a:schemeClr val="dk1"/>
                </a:solidFill>
              </a:rPr>
              <a:t>Miniaturized Size</a:t>
            </a:r>
            <a:r>
              <a:rPr lang="en" sz="1400">
                <a:solidFill>
                  <a:schemeClr val="dk1"/>
                </a:solidFill>
              </a:rPr>
              <a:t> – Compact form factor, suitable for portable and embedded systems, with a volume as small as 15 cm³.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 b="1">
                <a:solidFill>
                  <a:schemeClr val="dk1"/>
                </a:solidFill>
              </a:rPr>
              <a:t>Low Power Consumption</a:t>
            </a:r>
            <a:r>
              <a:rPr lang="en" sz="1400">
                <a:solidFill>
                  <a:schemeClr val="dk1"/>
                </a:solidFill>
              </a:rPr>
              <a:t> –Operates with very low power, consuming up to 59.9 mW.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 b="1">
                <a:solidFill>
                  <a:schemeClr val="dk1"/>
                </a:solidFill>
              </a:rPr>
              <a:t>Resistance to Environmental Factors</a:t>
            </a:r>
            <a:r>
              <a:rPr lang="en" sz="1400">
                <a:solidFill>
                  <a:schemeClr val="dk1"/>
                </a:solidFill>
              </a:rPr>
              <a:t> – Performs reliably under varying temperatures, vibrations, and electromagnetic conditions.</a:t>
            </a:r>
            <a:endParaRPr sz="14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3924833" y="464754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ctrTitle"/>
          </p:nvPr>
        </p:nvSpPr>
        <p:spPr>
          <a:xfrm>
            <a:off x="239550" y="107775"/>
            <a:ext cx="8520600" cy="38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Block Diagram Description</a:t>
            </a:r>
            <a:endParaRPr sz="2200"/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b="7295"/>
          <a:stretch/>
        </p:blipFill>
        <p:spPr>
          <a:xfrm>
            <a:off x="1565550" y="741363"/>
            <a:ext cx="6223350" cy="34041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1121575" y="4145550"/>
            <a:ext cx="5732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8288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</a:rPr>
              <a:t>Fig.1 CSAC Architecture simplified block diagram</a:t>
            </a:r>
            <a:endParaRPr sz="1000" b="1">
              <a:solidFill>
                <a:schemeClr val="dk1"/>
              </a:solidFill>
            </a:endParaRPr>
          </a:p>
          <a:p>
            <a:pPr marL="18288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</a:endParaRPr>
          </a:p>
          <a:p>
            <a:pPr marL="18288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     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239550" y="4465350"/>
            <a:ext cx="8904450" cy="3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Reference: Azhar Yaseen, “Chip Scale Atomic Clock - Architecture Technical Report” [unpublished manuscript as on 9th May 2025]</a:t>
            </a:r>
            <a:endParaRPr sz="1200" dirty="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4023308" y="47498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/>
        </p:nvSpPr>
        <p:spPr>
          <a:xfrm>
            <a:off x="1417550" y="65000"/>
            <a:ext cx="704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Vertical-cavity surface-emitting laser (VCSEL)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26850" y="4527900"/>
            <a:ext cx="9090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6"/>
          <p:cNvSpPr txBox="1"/>
          <p:nvPr/>
        </p:nvSpPr>
        <p:spPr>
          <a:xfrm>
            <a:off x="378625" y="4464800"/>
            <a:ext cx="8589900" cy="800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The eq. 5 shows that on varying I</a:t>
            </a:r>
            <a:r>
              <a:rPr lang="en" sz="1300" baseline="-25000">
                <a:solidFill>
                  <a:schemeClr val="dk1"/>
                </a:solidFill>
              </a:rPr>
              <a:t>DC</a:t>
            </a:r>
            <a:r>
              <a:rPr lang="en" sz="1300">
                <a:solidFill>
                  <a:schemeClr val="dk1"/>
                </a:solidFill>
              </a:rPr>
              <a:t>, we can vary the wavelength to fine tune it with the Cs atom’s D1 line transition frequency of 3.35 THz</a:t>
            </a:r>
            <a:endParaRPr sz="1300">
              <a:solidFill>
                <a:schemeClr val="dk1"/>
              </a:solidFill>
            </a:endParaRPr>
          </a:p>
          <a:p>
            <a:pPr marL="457200" lvl="0" indent="-317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575725" y="526700"/>
            <a:ext cx="83928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The VCSEL provides stable, narrow-linewidth laser emission at 894.6 nm, enabling resonant interaction with cesium atoms.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Its direct modulation generates dual optical sidebands separated by 9.192 GHz, facilitating coherent population trapping</a:t>
            </a:r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ldNum" idx="12"/>
          </p:nvPr>
        </p:nvSpPr>
        <p:spPr>
          <a:xfrm>
            <a:off x="4208783" y="479294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313525" y="3949650"/>
            <a:ext cx="8589900" cy="22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(Reference:- Azhar Yaseen, “Chip Scale Atomic Clock - Architecture Technical Report” [unpublished manuscript as on 9th May 2025])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6700" y="1573400"/>
            <a:ext cx="3777576" cy="262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/>
        </p:nvSpPr>
        <p:spPr>
          <a:xfrm>
            <a:off x="2644925" y="125000"/>
            <a:ext cx="4725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Coherent Population Trapping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 rotWithShape="1">
          <a:blip r:embed="rId3">
            <a:alphaModFix/>
          </a:blip>
          <a:srcRect b="7978"/>
          <a:stretch/>
        </p:blipFill>
        <p:spPr>
          <a:xfrm>
            <a:off x="5044300" y="692275"/>
            <a:ext cx="3745899" cy="313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75" y="519763"/>
            <a:ext cx="4549150" cy="36215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 txBox="1"/>
          <p:nvPr/>
        </p:nvSpPr>
        <p:spPr>
          <a:xfrm>
            <a:off x="1948650" y="4734625"/>
            <a:ext cx="4110600" cy="4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96644" y="4246888"/>
            <a:ext cx="8875906" cy="789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dirty="0">
                <a:solidFill>
                  <a:schemeClr val="dk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Reference:- H. Zhang </a:t>
            </a:r>
            <a:r>
              <a:rPr lang="en" sz="1250" i="1" dirty="0">
                <a:solidFill>
                  <a:schemeClr val="dk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et al</a:t>
            </a:r>
            <a:r>
              <a:rPr lang="en" sz="1250" dirty="0">
                <a:solidFill>
                  <a:schemeClr val="dk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., "ULPAC: A Miniaturized Ultralow-Power Atomic Clock," in </a:t>
            </a:r>
            <a:r>
              <a:rPr lang="en" sz="1250" i="1" dirty="0">
                <a:solidFill>
                  <a:schemeClr val="dk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IEEE Journal of Solid-State Circuits</a:t>
            </a:r>
            <a:r>
              <a:rPr lang="en" sz="1250" dirty="0">
                <a:solidFill>
                  <a:schemeClr val="dk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vol. 54, no. 11, pp. 3135-3148, Nov. 2019</a:t>
            </a:r>
            <a:r>
              <a:rPr lang="en" sz="1250" dirty="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50" dirty="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95" name="Google Shape;95;p17"/>
          <p:cNvSpPr txBox="1">
            <a:spLocks noGrp="1"/>
          </p:cNvSpPr>
          <p:nvPr>
            <p:ph type="sldNum" idx="12"/>
          </p:nvPr>
        </p:nvSpPr>
        <p:spPr>
          <a:xfrm>
            <a:off x="4297658" y="47422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5294250" y="3824350"/>
            <a:ext cx="3246000" cy="2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Fig 2:- Hyperfine Structure of Cesium</a:t>
            </a:r>
            <a:endParaRPr sz="10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7350" y="2776619"/>
            <a:ext cx="7183900" cy="1799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7350" y="337500"/>
            <a:ext cx="7183900" cy="243911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 txBox="1">
            <a:spLocks noGrp="1"/>
          </p:cNvSpPr>
          <p:nvPr>
            <p:ph type="sldNum" idx="12"/>
          </p:nvPr>
        </p:nvSpPr>
        <p:spPr>
          <a:xfrm>
            <a:off x="4140833" y="48059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" name="Google Shape;94;p17">
            <a:extLst>
              <a:ext uri="{FF2B5EF4-FFF2-40B4-BE49-F238E27FC236}">
                <a16:creationId xmlns:a16="http://schemas.microsoft.com/office/drawing/2014/main" id="{C4686F56-D2EA-0426-3967-61F99C0E7C6F}"/>
              </a:ext>
            </a:extLst>
          </p:cNvPr>
          <p:cNvSpPr txBox="1"/>
          <p:nvPr/>
        </p:nvSpPr>
        <p:spPr>
          <a:xfrm>
            <a:off x="0" y="4484781"/>
            <a:ext cx="8875906" cy="789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dirty="0">
                <a:solidFill>
                  <a:schemeClr val="dk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Reference:- H. Zhang </a:t>
            </a:r>
            <a:r>
              <a:rPr lang="en" sz="1250" i="1" dirty="0">
                <a:solidFill>
                  <a:schemeClr val="dk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et al</a:t>
            </a:r>
            <a:r>
              <a:rPr lang="en" sz="1250" dirty="0">
                <a:solidFill>
                  <a:schemeClr val="dk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., "ULPAC: A Miniaturized Ultralow-Power Atomic Clock," in </a:t>
            </a:r>
            <a:r>
              <a:rPr lang="en" sz="1250" i="1" dirty="0">
                <a:solidFill>
                  <a:schemeClr val="dk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IEEE Journal of Solid-State Circuits</a:t>
            </a:r>
            <a:r>
              <a:rPr lang="en" sz="1250" dirty="0">
                <a:solidFill>
                  <a:schemeClr val="dk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vol. 54, no. 11, pp. 3135-3148, Nov. 2019</a:t>
            </a:r>
            <a:r>
              <a:rPr lang="en" sz="1250" dirty="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50" dirty="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>
            <a:spLocks noGrp="1"/>
          </p:cNvSpPr>
          <p:nvPr>
            <p:ph type="title"/>
          </p:nvPr>
        </p:nvSpPr>
        <p:spPr>
          <a:xfrm>
            <a:off x="374775" y="1927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Initial I</a:t>
            </a:r>
            <a:r>
              <a:rPr lang="en" sz="2320" baseline="-25000"/>
              <a:t>DC </a:t>
            </a:r>
            <a:r>
              <a:rPr lang="en" sz="2320"/>
              <a:t>&amp;  I</a:t>
            </a:r>
            <a:r>
              <a:rPr lang="en" sz="2320" baseline="-25000"/>
              <a:t>PD</a:t>
            </a:r>
            <a:r>
              <a:rPr lang="en" sz="2320"/>
              <a:t> </a:t>
            </a:r>
            <a:endParaRPr sz="2320"/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550" y="1781212"/>
            <a:ext cx="8981050" cy="268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/>
        </p:nvSpPr>
        <p:spPr>
          <a:xfrm>
            <a:off x="5997550" y="658100"/>
            <a:ext cx="3165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3228600" y="4539550"/>
            <a:ext cx="3248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Fig.3 Initial values of I</a:t>
            </a:r>
            <a:r>
              <a:rPr lang="en" sz="1100" b="1" baseline="-25000">
                <a:solidFill>
                  <a:schemeClr val="dk1"/>
                </a:solidFill>
              </a:rPr>
              <a:t>DC</a:t>
            </a:r>
            <a:r>
              <a:rPr lang="en" sz="1000" b="1" baseline="-25000">
                <a:solidFill>
                  <a:schemeClr val="dk1"/>
                </a:solidFill>
              </a:rPr>
              <a:t> </a:t>
            </a:r>
            <a:r>
              <a:rPr lang="en" sz="1000" b="1">
                <a:solidFill>
                  <a:schemeClr val="dk1"/>
                </a:solidFill>
              </a:rPr>
              <a:t> and I</a:t>
            </a:r>
            <a:r>
              <a:rPr lang="en" sz="1000" b="1" baseline="-25000">
                <a:solidFill>
                  <a:schemeClr val="dk1"/>
                </a:solidFill>
              </a:rPr>
              <a:t>PD </a:t>
            </a:r>
            <a:r>
              <a:rPr lang="en" sz="1000" b="1">
                <a:solidFill>
                  <a:schemeClr val="dk1"/>
                </a:solidFill>
              </a:rPr>
              <a:t> with time</a:t>
            </a:r>
            <a:endParaRPr sz="1000" b="1">
              <a:solidFill>
                <a:schemeClr val="dk1"/>
              </a:solidFill>
            </a:endParaRPr>
          </a:p>
        </p:txBody>
      </p:sp>
      <p:sp>
        <p:nvSpPr>
          <p:cNvPr id="112" name="Google Shape;112;p19"/>
          <p:cNvSpPr txBox="1">
            <a:spLocks noGrp="1"/>
          </p:cNvSpPr>
          <p:nvPr>
            <p:ph type="sldNum" idx="12"/>
          </p:nvPr>
        </p:nvSpPr>
        <p:spPr>
          <a:xfrm>
            <a:off x="4578458" y="4753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13" name="Google Shape;113;p19"/>
          <p:cNvSpPr txBox="1"/>
          <p:nvPr/>
        </p:nvSpPr>
        <p:spPr>
          <a:xfrm>
            <a:off x="842322" y="781261"/>
            <a:ext cx="81792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We have modelled I</a:t>
            </a:r>
            <a:r>
              <a:rPr lang="en" baseline="-25000" dirty="0">
                <a:solidFill>
                  <a:schemeClr val="dk1"/>
                </a:solidFill>
              </a:rPr>
              <a:t>DC </a:t>
            </a:r>
            <a:r>
              <a:rPr lang="en" dirty="0">
                <a:solidFill>
                  <a:schemeClr val="dk1"/>
                </a:solidFill>
              </a:rPr>
              <a:t> as a square wave (with I</a:t>
            </a:r>
            <a:r>
              <a:rPr lang="en" baseline="-25000" dirty="0">
                <a:solidFill>
                  <a:schemeClr val="dk1"/>
                </a:solidFill>
              </a:rPr>
              <a:t>DC,0</a:t>
            </a:r>
            <a:r>
              <a:rPr lang="en" dirty="0">
                <a:solidFill>
                  <a:schemeClr val="dk1"/>
                </a:solidFill>
              </a:rPr>
              <a:t>=2mA) and </a:t>
            </a:r>
            <a:r>
              <a:rPr lang="en" dirty="0">
                <a:solidFill>
                  <a:schemeClr val="dk1"/>
                </a:solidFill>
                <a:highlight>
                  <a:srgbClr val="FFF2CC"/>
                </a:highlight>
              </a:rPr>
              <a:t>ΔI=5µA.</a:t>
            </a:r>
            <a:endParaRPr dirty="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highlight>
                  <a:srgbClr val="FFF2CC"/>
                </a:highlight>
              </a:rPr>
              <a:t>Correspondingly, we have a square wave in I</a:t>
            </a:r>
            <a:r>
              <a:rPr lang="en" baseline="-25000" dirty="0">
                <a:solidFill>
                  <a:schemeClr val="dk1"/>
                </a:solidFill>
                <a:highlight>
                  <a:srgbClr val="FFF2CC"/>
                </a:highlight>
              </a:rPr>
              <a:t>PD</a:t>
            </a:r>
            <a:r>
              <a:rPr lang="en" dirty="0">
                <a:solidFill>
                  <a:schemeClr val="dk1"/>
                </a:solidFill>
                <a:highlight>
                  <a:srgbClr val="FFF2CC"/>
                </a:highlight>
              </a:rPr>
              <a:t> using the parabolic relation discussed later</a:t>
            </a:r>
            <a:r>
              <a:rPr lang="en" sz="1800" dirty="0">
                <a:solidFill>
                  <a:schemeClr val="dk1"/>
                </a:solidFill>
                <a:highlight>
                  <a:srgbClr val="FFF2CC"/>
                </a:highlight>
              </a:rPr>
              <a:t>.</a:t>
            </a:r>
            <a:endParaRPr sz="1800" dirty="0">
              <a:solidFill>
                <a:schemeClr val="dk1"/>
              </a:solidFill>
              <a:highlight>
                <a:srgbClr val="FFF2CC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>
            <a:spLocks noGrp="1"/>
          </p:cNvSpPr>
          <p:nvPr>
            <p:ph type="title"/>
          </p:nvPr>
        </p:nvSpPr>
        <p:spPr>
          <a:xfrm>
            <a:off x="311700" y="206900"/>
            <a:ext cx="8520600" cy="4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743200" lvl="0" indent="45720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2388"/>
              <a:t>Lock in Detection </a:t>
            </a:r>
            <a:endParaRPr sz="2388"/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425" y="744925"/>
            <a:ext cx="8679149" cy="258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0"/>
          <p:cNvSpPr txBox="1"/>
          <p:nvPr/>
        </p:nvSpPr>
        <p:spPr>
          <a:xfrm>
            <a:off x="1795075" y="3250350"/>
            <a:ext cx="602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Fig.4 Implementation of basic lock-in amplifier circuitry in Simulink </a:t>
            </a:r>
            <a:endParaRPr sz="1200" b="1">
              <a:solidFill>
                <a:schemeClr val="dk1"/>
              </a:solidFill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632575" y="3824125"/>
            <a:ext cx="81375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lock-in amplifier isolates a specific weak input signal from noise by multiplying it with a </a:t>
            </a:r>
            <a:r>
              <a:rPr lang="en" b="1"/>
              <a:t>reference signal </a:t>
            </a:r>
            <a:r>
              <a:rPr lang="en"/>
              <a:t>at the </a:t>
            </a:r>
            <a:r>
              <a:rPr lang="en" b="1"/>
              <a:t>same desired frequency</a:t>
            </a:r>
            <a:r>
              <a:rPr lang="en"/>
              <a:t> and filtering out unwanted components.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enhances the </a:t>
            </a:r>
            <a:r>
              <a:rPr lang="en" b="1"/>
              <a:t>desired signal's detectability </a:t>
            </a:r>
            <a:r>
              <a:rPr lang="en"/>
              <a:t>for the system controller.</a:t>
            </a:r>
            <a:endParaRPr/>
          </a:p>
        </p:txBody>
      </p:sp>
      <p:sp>
        <p:nvSpPr>
          <p:cNvPr id="122" name="Google Shape;122;p20"/>
          <p:cNvSpPr txBox="1">
            <a:spLocks noGrp="1"/>
          </p:cNvSpPr>
          <p:nvPr>
            <p:ph type="sldNum" idx="12"/>
          </p:nvPr>
        </p:nvSpPr>
        <p:spPr>
          <a:xfrm>
            <a:off x="4297658" y="4719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0425" y="222875"/>
            <a:ext cx="5134249" cy="454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1"/>
          <p:cNvSpPr txBox="1"/>
          <p:nvPr/>
        </p:nvSpPr>
        <p:spPr>
          <a:xfrm>
            <a:off x="3547175" y="4756375"/>
            <a:ext cx="2370600" cy="4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29" name="Google Shape;129;p21"/>
          <p:cNvSpPr txBox="1">
            <a:spLocks noGrp="1"/>
          </p:cNvSpPr>
          <p:nvPr>
            <p:ph type="sldNum" idx="12"/>
          </p:nvPr>
        </p:nvSpPr>
        <p:spPr>
          <a:xfrm>
            <a:off x="4297658" y="47878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D1DC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/>
        </p:nvSpPr>
        <p:spPr>
          <a:xfrm>
            <a:off x="858825" y="4459700"/>
            <a:ext cx="689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716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2"/>
                </a:solidFill>
              </a:rPr>
              <a:t>Fig.5  SIMULINK output of lock-in amplifier </a:t>
            </a:r>
            <a:endParaRPr sz="1200" b="1">
              <a:solidFill>
                <a:schemeClr val="dk2"/>
              </a:solidFill>
            </a:endParaRPr>
          </a:p>
        </p:txBody>
      </p:sp>
      <p:sp>
        <p:nvSpPr>
          <p:cNvPr id="135" name="Google Shape;135;p22"/>
          <p:cNvSpPr txBox="1"/>
          <p:nvPr/>
        </p:nvSpPr>
        <p:spPr>
          <a:xfrm>
            <a:off x="2162425" y="58475"/>
            <a:ext cx="53934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Output of Lock-in Amplifier in Simulink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2905600" y="4789000"/>
            <a:ext cx="3142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37" name="Google Shape;137;p22"/>
          <p:cNvSpPr txBox="1">
            <a:spLocks noGrp="1"/>
          </p:cNvSpPr>
          <p:nvPr>
            <p:ph type="sldNum" idx="12"/>
          </p:nvPr>
        </p:nvSpPr>
        <p:spPr>
          <a:xfrm>
            <a:off x="4584783" y="472524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3575" y="785450"/>
            <a:ext cx="7117634" cy="343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/>
        </p:nvSpPr>
        <p:spPr>
          <a:xfrm>
            <a:off x="2595875" y="178775"/>
            <a:ext cx="4725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Physics behind I</a:t>
            </a:r>
            <a:r>
              <a:rPr lang="en" sz="1800" baseline="-25000">
                <a:solidFill>
                  <a:schemeClr val="dk1"/>
                </a:solidFill>
              </a:rPr>
              <a:t>PD</a:t>
            </a:r>
            <a:r>
              <a:rPr lang="en" sz="1800">
                <a:solidFill>
                  <a:schemeClr val="dk1"/>
                </a:solidFill>
              </a:rPr>
              <a:t> Minimisation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44" name="Google Shape;144;p23"/>
          <p:cNvSpPr txBox="1"/>
          <p:nvPr/>
        </p:nvSpPr>
        <p:spPr>
          <a:xfrm>
            <a:off x="429000" y="640475"/>
            <a:ext cx="8286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When the VCSEL wavelength is locked at 894.6 nm, the photodetector current I</a:t>
            </a:r>
            <a:r>
              <a:rPr lang="en" sz="1500" baseline="-25000"/>
              <a:t>PD</a:t>
            </a:r>
            <a:r>
              <a:rPr lang="en" sz="1500"/>
              <a:t>​ drops to a minimum.</a:t>
            </a:r>
            <a:endParaRPr sz="1500"/>
          </a:p>
        </p:txBody>
      </p:sp>
      <p:sp>
        <p:nvSpPr>
          <p:cNvPr id="145" name="Google Shape;145;p23"/>
          <p:cNvSpPr txBox="1"/>
          <p:nvPr/>
        </p:nvSpPr>
        <p:spPr>
          <a:xfrm>
            <a:off x="515025" y="727975"/>
            <a:ext cx="8606400" cy="3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Laser Wavelength Lock (894.6 nm)</a:t>
            </a:r>
            <a:endParaRPr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This is about ensuring the laser is tuned to the D1 transition line of Cs (around 894.6 nm).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When the laser approaches the resonance wavelength (894.6 nm), cesium atoms begin to strongly absorb light.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More absorption = Less light reaches the photodetector → I</a:t>
            </a:r>
            <a:r>
              <a:rPr lang="en" sz="1300" baseline="-25000">
                <a:solidFill>
                  <a:schemeClr val="dk1"/>
                </a:solidFill>
              </a:rPr>
              <a:t>PD</a:t>
            </a:r>
            <a:r>
              <a:rPr lang="en" sz="1300">
                <a:solidFill>
                  <a:schemeClr val="dk1"/>
                </a:solidFill>
              </a:rPr>
              <a:t>​ drops.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Hence, the I</a:t>
            </a:r>
            <a:r>
              <a:rPr lang="en" sz="1300" b="1" baseline="-25000">
                <a:solidFill>
                  <a:schemeClr val="dk1"/>
                </a:solidFill>
              </a:rPr>
              <a:t>DC</a:t>
            </a:r>
            <a:r>
              <a:rPr lang="en" sz="1300" b="1">
                <a:solidFill>
                  <a:schemeClr val="dk1"/>
                </a:solidFill>
              </a:rPr>
              <a:t> which corresponds to dip in I</a:t>
            </a:r>
            <a:r>
              <a:rPr lang="en" sz="1300" b="1" baseline="-25000">
                <a:solidFill>
                  <a:schemeClr val="dk1"/>
                </a:solidFill>
              </a:rPr>
              <a:t>PD</a:t>
            </a:r>
            <a:r>
              <a:rPr lang="en" sz="1300" b="1">
                <a:solidFill>
                  <a:schemeClr val="dk1"/>
                </a:solidFill>
              </a:rPr>
              <a:t> is the required value of I</a:t>
            </a:r>
            <a:r>
              <a:rPr lang="en" sz="1300" b="1" baseline="-25000">
                <a:solidFill>
                  <a:schemeClr val="dk1"/>
                </a:solidFill>
              </a:rPr>
              <a:t>DC</a:t>
            </a:r>
            <a:r>
              <a:rPr lang="en" sz="1300" b="1">
                <a:solidFill>
                  <a:schemeClr val="dk1"/>
                </a:solidFill>
              </a:rPr>
              <a:t> which can drive VCSEL block to produce a laser with wavelength of 894.6nm (i.e. 3.35THz)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 have a parabolic relationship between Idc and Ipd and we have simulated a logic for this minimization as mentioned in the next slide</a:t>
            </a:r>
            <a:r>
              <a:rPr lang="en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300" b="1">
              <a:solidFill>
                <a:schemeClr val="dk1"/>
              </a:solidFill>
            </a:endParaRPr>
          </a:p>
        </p:txBody>
      </p:sp>
      <p:sp>
        <p:nvSpPr>
          <p:cNvPr id="146" name="Google Shape;146;p23"/>
          <p:cNvSpPr txBox="1">
            <a:spLocks noGrp="1"/>
          </p:cNvSpPr>
          <p:nvPr>
            <p:ph type="sldNum" idx="12"/>
          </p:nvPr>
        </p:nvSpPr>
        <p:spPr>
          <a:xfrm>
            <a:off x="4297658" y="46666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152" name="Google Shape;152;p24"/>
          <p:cNvPicPr preferRelativeResize="0"/>
          <p:nvPr/>
        </p:nvPicPr>
        <p:blipFill rotWithShape="1">
          <a:blip r:embed="rId3">
            <a:alphaModFix/>
          </a:blip>
          <a:srcRect t="22566" b="12363"/>
          <a:stretch/>
        </p:blipFill>
        <p:spPr>
          <a:xfrm>
            <a:off x="247975" y="1543150"/>
            <a:ext cx="3197600" cy="89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4"/>
          <p:cNvSpPr txBox="1"/>
          <p:nvPr/>
        </p:nvSpPr>
        <p:spPr>
          <a:xfrm>
            <a:off x="447425" y="1747517"/>
            <a:ext cx="8448600" cy="3650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Here, we have taken the I</a:t>
            </a:r>
            <a:r>
              <a:rPr lang="en" sz="1500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DC</a:t>
            </a:r>
            <a:r>
              <a:rPr lang="en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i.e. the VCSEL driving current as </a:t>
            </a:r>
            <a:r>
              <a:rPr lang="en" sz="1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1.5mA</a:t>
            </a:r>
            <a:r>
              <a:rPr lang="en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This is so because choosing 1.5 mA places the bias point approximately mid-range of coarse bank (as in Fig.6), which offers </a:t>
            </a:r>
            <a:r>
              <a:rPr lang="en" sz="1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headroom</a:t>
            </a:r>
            <a:r>
              <a:rPr lang="en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modulation and tuning thereby allowing increment or decrement of the current as required. Also, we have taken </a:t>
            </a:r>
            <a:r>
              <a:rPr lang="en" sz="1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" sz="1500" b="1" baseline="-25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PD,min</a:t>
            </a:r>
            <a:r>
              <a:rPr lang="en" sz="1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</a:t>
            </a:r>
            <a:r>
              <a:rPr lang="en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without loss of generality of algorithm.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4"/>
          <p:cNvSpPr txBox="1"/>
          <p:nvPr/>
        </p:nvSpPr>
        <p:spPr>
          <a:xfrm>
            <a:off x="144975" y="654800"/>
            <a:ext cx="5850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have taken a parabolic function defined as </a:t>
            </a:r>
            <a:endParaRPr sz="1500"/>
          </a:p>
        </p:txBody>
      </p:sp>
      <p:pic>
        <p:nvPicPr>
          <p:cNvPr id="155" name="Google Shape;155;p24"/>
          <p:cNvPicPr preferRelativeResize="0"/>
          <p:nvPr/>
        </p:nvPicPr>
        <p:blipFill rotWithShape="1">
          <a:blip r:embed="rId4">
            <a:alphaModFix/>
          </a:blip>
          <a:srcRect l="4572" t="3250" r="11520"/>
          <a:stretch/>
        </p:blipFill>
        <p:spPr>
          <a:xfrm>
            <a:off x="4166600" y="173075"/>
            <a:ext cx="4360100" cy="260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4"/>
          <p:cNvSpPr txBox="1"/>
          <p:nvPr/>
        </p:nvSpPr>
        <p:spPr>
          <a:xfrm>
            <a:off x="4275100" y="2778050"/>
            <a:ext cx="4251600" cy="631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4572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FIg. 6  Current driver circuit operation </a:t>
            </a:r>
            <a:endParaRPr b="1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4572000" y="3124350"/>
            <a:ext cx="4119300" cy="10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(Reference:- H. Zhang </a:t>
            </a:r>
            <a:r>
              <a:rPr lang="en" sz="1250" i="1">
                <a:solidFill>
                  <a:schemeClr val="dk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et al</a:t>
            </a:r>
            <a:r>
              <a:rPr lang="en" sz="1250">
                <a:solidFill>
                  <a:schemeClr val="dk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., "ULPAC: A Miniaturized Ultralow-Power Atomic Clock," in </a:t>
            </a:r>
            <a:r>
              <a:rPr lang="en" sz="1250" i="1">
                <a:solidFill>
                  <a:schemeClr val="dk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IEEE Journal of Solid-State Circuits</a:t>
            </a:r>
            <a:r>
              <a:rPr lang="en" sz="1250">
                <a:solidFill>
                  <a:schemeClr val="dk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vol. 54, no. 11, pp. 3135-3148, Nov. 2019)</a:t>
            </a:r>
            <a:r>
              <a:rPr lang="en" sz="125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5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>
            <a:spLocks noGrp="1"/>
          </p:cNvSpPr>
          <p:nvPr>
            <p:ph type="title"/>
          </p:nvPr>
        </p:nvSpPr>
        <p:spPr>
          <a:xfrm>
            <a:off x="367325" y="271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4572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090" b="1"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VCSEL Current driver circuit operation </a:t>
            </a:r>
            <a:endParaRPr sz="2360" b="1">
              <a:highlight>
                <a:srgbClr val="FFF2CC"/>
              </a:highlight>
            </a:endParaRPr>
          </a:p>
          <a:p>
            <a:pPr marL="1371600" lvl="0" indent="45720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endParaRPr sz="3188"/>
          </a:p>
        </p:txBody>
      </p:sp>
      <p:sp>
        <p:nvSpPr>
          <p:cNvPr id="163" name="Google Shape;163;p25"/>
          <p:cNvSpPr txBox="1"/>
          <p:nvPr/>
        </p:nvSpPr>
        <p:spPr>
          <a:xfrm>
            <a:off x="5357225" y="31346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Fig.7  System Controller block diagram</a:t>
            </a:r>
            <a:endParaRPr sz="1100" b="1">
              <a:solidFill>
                <a:schemeClr val="dk1"/>
              </a:solidFill>
              <a:highlight>
                <a:srgbClr val="FFF2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4" name="Google Shape;1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075" y="721975"/>
            <a:ext cx="4590875" cy="438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5"/>
          <p:cNvPicPr preferRelativeResize="0"/>
          <p:nvPr/>
        </p:nvPicPr>
        <p:blipFill rotWithShape="1">
          <a:blip r:embed="rId4">
            <a:alphaModFix/>
          </a:blip>
          <a:srcRect r="26340"/>
          <a:stretch/>
        </p:blipFill>
        <p:spPr>
          <a:xfrm>
            <a:off x="5587549" y="1605150"/>
            <a:ext cx="2539350" cy="126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5"/>
          <p:cNvSpPr txBox="1">
            <a:spLocks noGrp="1"/>
          </p:cNvSpPr>
          <p:nvPr>
            <p:ph type="sldNum" idx="12"/>
          </p:nvPr>
        </p:nvSpPr>
        <p:spPr>
          <a:xfrm>
            <a:off x="4105583" y="471224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167" name="Google Shape;167;p25"/>
          <p:cNvSpPr txBox="1"/>
          <p:nvPr/>
        </p:nvSpPr>
        <p:spPr>
          <a:xfrm>
            <a:off x="5230925" y="3503275"/>
            <a:ext cx="3657000" cy="10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Reference:- H. Zhang </a:t>
            </a:r>
            <a:r>
              <a:rPr lang="en" sz="1250" i="1">
                <a:solidFill>
                  <a:schemeClr val="dk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et al</a:t>
            </a:r>
            <a:r>
              <a:rPr lang="en" sz="1250">
                <a:solidFill>
                  <a:schemeClr val="dk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., "ULPAC: A Miniaturized Ultralow-Power Atomic Clock," in </a:t>
            </a:r>
            <a:r>
              <a:rPr lang="en" sz="1250" i="1">
                <a:solidFill>
                  <a:schemeClr val="dk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IEEE Journal of Solid-State Circuits</a:t>
            </a:r>
            <a:r>
              <a:rPr lang="en" sz="1250">
                <a:solidFill>
                  <a:schemeClr val="dk1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vol. 54, no. 11, pp. 3135-3148, Nov. 2019</a:t>
            </a:r>
            <a:r>
              <a:rPr lang="en" sz="125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5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/>
        </p:nvSpPr>
        <p:spPr>
          <a:xfrm>
            <a:off x="1989050" y="56825"/>
            <a:ext cx="6240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</a:rPr>
              <a:t>System Controller Logic of I</a:t>
            </a:r>
            <a:r>
              <a:rPr lang="en" sz="2100" baseline="-25000">
                <a:solidFill>
                  <a:schemeClr val="dk2"/>
                </a:solidFill>
              </a:rPr>
              <a:t>PD</a:t>
            </a:r>
            <a:r>
              <a:rPr lang="en" sz="2100">
                <a:solidFill>
                  <a:schemeClr val="dk2"/>
                </a:solidFill>
              </a:rPr>
              <a:t> Minimisation</a:t>
            </a:r>
            <a:endParaRPr sz="2100">
              <a:solidFill>
                <a:schemeClr val="dk2"/>
              </a:solidFill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106575" y="676025"/>
            <a:ext cx="8629500" cy="3929700"/>
          </a:xfrm>
          <a:prstGeom prst="rect">
            <a:avLst/>
          </a:prstGeom>
          <a:noFill/>
          <a:ln w="9525" cap="flat" cmpd="sng">
            <a:solidFill>
              <a:srgbClr val="FFF2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Starting Points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Two initial current values are chosen:</a:t>
            </a:r>
            <a:endParaRPr>
              <a:solidFill>
                <a:schemeClr val="dk1"/>
              </a:solidFill>
            </a:endParaRPr>
          </a:p>
          <a:p>
            <a: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romanLcPeriod"/>
            </a:pPr>
            <a:r>
              <a:rPr lang="en">
                <a:solidFill>
                  <a:schemeClr val="dk1"/>
                </a:solidFill>
              </a:rPr>
              <a:t>x</a:t>
            </a:r>
            <a:r>
              <a:rPr lang="en" baseline="-25000">
                <a:solidFill>
                  <a:schemeClr val="dk1"/>
                </a:solidFill>
              </a:rPr>
              <a:t>1,initial</a:t>
            </a:r>
            <a:r>
              <a:rPr lang="en">
                <a:solidFill>
                  <a:schemeClr val="dk1"/>
                </a:solidFill>
              </a:rPr>
              <a:t>: A baseline value (e.g., 2 mA)</a:t>
            </a:r>
            <a:endParaRPr>
              <a:solidFill>
                <a:schemeClr val="dk1"/>
              </a:solidFill>
            </a:endParaRPr>
          </a:p>
          <a:p>
            <a: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romanLcPeriod"/>
            </a:pPr>
            <a:r>
              <a:rPr lang="en">
                <a:solidFill>
                  <a:schemeClr val="dk1"/>
                </a:solidFill>
              </a:rPr>
              <a:t>x</a:t>
            </a:r>
            <a:r>
              <a:rPr lang="en" baseline="-25000">
                <a:solidFill>
                  <a:schemeClr val="dk1"/>
                </a:solidFill>
              </a:rPr>
              <a:t>2,initial</a:t>
            </a:r>
            <a:r>
              <a:rPr lang="en">
                <a:solidFill>
                  <a:schemeClr val="dk1"/>
                </a:solidFill>
              </a:rPr>
              <a:t>: A slightly higher value (e.g., x</a:t>
            </a:r>
            <a:r>
              <a:rPr lang="en" baseline="-25000">
                <a:solidFill>
                  <a:schemeClr val="dk1"/>
                </a:solidFill>
              </a:rPr>
              <a:t>1,initial </a:t>
            </a:r>
            <a:r>
              <a:rPr lang="en">
                <a:solidFill>
                  <a:schemeClr val="dk1"/>
                </a:solidFill>
              </a:rPr>
              <a:t>+ 5</a:t>
            </a:r>
            <a:r>
              <a:rPr lang="en">
                <a:solidFill>
                  <a:srgbClr val="101218"/>
                </a:solidFill>
                <a:highlight>
                  <a:srgbClr val="FFF2CC"/>
                </a:highlight>
              </a:rPr>
              <a:t>µA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Parabolic Function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These current values are passed through a parabolic function defined as:</a:t>
            </a:r>
            <a:endParaRPr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					</a:t>
            </a:r>
            <a:r>
              <a:rPr lang="en" b="1">
                <a:solidFill>
                  <a:schemeClr val="dk1"/>
                </a:solidFill>
              </a:rPr>
              <a:t>I</a:t>
            </a:r>
            <a:r>
              <a:rPr lang="en" b="1" i="1" baseline="-25000">
                <a:solidFill>
                  <a:schemeClr val="dk1"/>
                </a:solidFill>
              </a:rPr>
              <a:t>PD</a:t>
            </a:r>
            <a:r>
              <a:rPr lang="en" b="1">
                <a:solidFill>
                  <a:schemeClr val="dk1"/>
                </a:solidFill>
              </a:rPr>
              <a:t> =  5(I</a:t>
            </a:r>
            <a:r>
              <a:rPr lang="en" b="1" i="1" baseline="-25000">
                <a:solidFill>
                  <a:schemeClr val="dk1"/>
                </a:solidFill>
              </a:rPr>
              <a:t>DC</a:t>
            </a:r>
            <a:r>
              <a:rPr lang="en" b="1">
                <a:solidFill>
                  <a:schemeClr val="dk1"/>
                </a:solidFill>
              </a:rPr>
              <a:t>-1.5mA)</a:t>
            </a:r>
            <a:r>
              <a:rPr lang="en" b="1" baseline="30000">
                <a:solidFill>
                  <a:schemeClr val="dk1"/>
                </a:solidFill>
              </a:rPr>
              <a:t>2</a:t>
            </a:r>
            <a:endParaRPr b="1" baseline="3000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This yields two outputs y</a:t>
            </a:r>
            <a:r>
              <a:rPr lang="en" baseline="-25000">
                <a:solidFill>
                  <a:schemeClr val="dk1"/>
                </a:solidFill>
              </a:rPr>
              <a:t>1</a:t>
            </a:r>
            <a:r>
              <a:rPr lang="en">
                <a:solidFill>
                  <a:schemeClr val="dk1"/>
                </a:solidFill>
              </a:rPr>
              <a:t> and y</a:t>
            </a:r>
            <a:r>
              <a:rPr lang="en" baseline="-25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, corresponding to x</a:t>
            </a:r>
            <a:r>
              <a:rPr lang="en" baseline="-25000">
                <a:solidFill>
                  <a:schemeClr val="dk1"/>
                </a:solidFill>
              </a:rPr>
              <a:t>1,initial</a:t>
            </a:r>
            <a:r>
              <a:rPr lang="en">
                <a:solidFill>
                  <a:schemeClr val="dk1"/>
                </a:solidFill>
              </a:rPr>
              <a:t> and x</a:t>
            </a:r>
            <a:r>
              <a:rPr lang="en" baseline="-25000">
                <a:solidFill>
                  <a:schemeClr val="dk1"/>
                </a:solidFill>
              </a:rPr>
              <a:t>2,initial</a:t>
            </a:r>
            <a:r>
              <a:rPr lang="en">
                <a:solidFill>
                  <a:schemeClr val="dk1"/>
                </a:solidFill>
              </a:rPr>
              <a:t>, respectively.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Comparison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The script compares and to determine how the system should shift:</a:t>
            </a:r>
            <a:endParaRPr>
              <a:solidFill>
                <a:schemeClr val="dk1"/>
              </a:solidFill>
            </a:endParaRPr>
          </a:p>
          <a:p>
            <a: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romanLcPeriod"/>
            </a:pPr>
            <a:r>
              <a:rPr lang="en">
                <a:solidFill>
                  <a:schemeClr val="dk1"/>
                </a:solidFill>
              </a:rPr>
              <a:t>If y</a:t>
            </a:r>
            <a:r>
              <a:rPr lang="en" baseline="-25000">
                <a:solidFill>
                  <a:schemeClr val="dk1"/>
                </a:solidFill>
              </a:rPr>
              <a:t>1</a:t>
            </a:r>
            <a:r>
              <a:rPr lang="en">
                <a:solidFill>
                  <a:schemeClr val="dk1"/>
                </a:solidFill>
              </a:rPr>
              <a:t>&gt;y</a:t>
            </a:r>
            <a:r>
              <a:rPr lang="en" baseline="-25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 ,it implies x</a:t>
            </a:r>
            <a:r>
              <a:rPr lang="en" baseline="-25000">
                <a:solidFill>
                  <a:schemeClr val="dk1"/>
                </a:solidFill>
              </a:rPr>
              <a:t>1,initial </a:t>
            </a:r>
            <a:r>
              <a:rPr lang="en">
                <a:solidFill>
                  <a:schemeClr val="dk1"/>
                </a:solidFill>
              </a:rPr>
              <a:t> is on the </a:t>
            </a:r>
            <a:r>
              <a:rPr lang="en" b="1">
                <a:solidFill>
                  <a:schemeClr val="dk1"/>
                </a:solidFill>
              </a:rPr>
              <a:t>left</a:t>
            </a:r>
            <a:r>
              <a:rPr lang="en">
                <a:solidFill>
                  <a:schemeClr val="dk1"/>
                </a:solidFill>
              </a:rPr>
              <a:t> side of the parabola (before the minimum), and the system should shift accordingly.</a:t>
            </a:r>
            <a:endParaRPr>
              <a:solidFill>
                <a:schemeClr val="dk1"/>
              </a:solidFill>
            </a:endParaRPr>
          </a:p>
          <a:p>
            <a: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romanLcPeriod"/>
            </a:pPr>
            <a:r>
              <a:rPr lang="en">
                <a:solidFill>
                  <a:schemeClr val="dk1"/>
                </a:solidFill>
              </a:rPr>
              <a:t>If , it implies x</a:t>
            </a:r>
            <a:r>
              <a:rPr lang="en" baseline="-25000">
                <a:solidFill>
                  <a:schemeClr val="dk1"/>
                </a:solidFill>
              </a:rPr>
              <a:t>1,initial   </a:t>
            </a:r>
            <a:r>
              <a:rPr lang="en">
                <a:solidFill>
                  <a:schemeClr val="dk1"/>
                </a:solidFill>
              </a:rPr>
              <a:t>is on the </a:t>
            </a:r>
            <a:r>
              <a:rPr lang="en" b="1">
                <a:solidFill>
                  <a:schemeClr val="dk1"/>
                </a:solidFill>
              </a:rPr>
              <a:t>right</a:t>
            </a:r>
            <a:r>
              <a:rPr lang="en">
                <a:solidFill>
                  <a:schemeClr val="dk1"/>
                </a:solidFill>
              </a:rPr>
              <a:t> side of the parabola (after the minimum), and the system should adjust in the </a:t>
            </a:r>
            <a:r>
              <a:rPr lang="en" i="1">
                <a:solidFill>
                  <a:schemeClr val="dk1"/>
                </a:solidFill>
              </a:rPr>
              <a:t>opposite </a:t>
            </a:r>
            <a:r>
              <a:rPr lang="en">
                <a:solidFill>
                  <a:schemeClr val="dk1"/>
                </a:solidFill>
              </a:rPr>
              <a:t>direction.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4" name="Google Shape;174;p26"/>
          <p:cNvSpPr txBox="1">
            <a:spLocks noGrp="1"/>
          </p:cNvSpPr>
          <p:nvPr>
            <p:ph type="sldNum" idx="12"/>
          </p:nvPr>
        </p:nvSpPr>
        <p:spPr>
          <a:xfrm>
            <a:off x="4297658" y="468014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/>
        </p:nvSpPr>
        <p:spPr>
          <a:xfrm>
            <a:off x="569425" y="158850"/>
            <a:ext cx="8508300" cy="47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</a:rPr>
              <a:t>4.   Loop Process</a:t>
            </a:r>
            <a:endParaRPr sz="1350" b="1">
              <a:solidFill>
                <a:schemeClr val="dk1"/>
              </a:solidFill>
            </a:endParaRPr>
          </a:p>
          <a:p>
            <a:pPr marL="914400" lvl="1" indent="-31432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" sz="1350">
                <a:solidFill>
                  <a:schemeClr val="dk1"/>
                </a:solidFill>
              </a:rPr>
              <a:t>Depending on the determined side, both x</a:t>
            </a:r>
            <a:r>
              <a:rPr lang="en" sz="1350" baseline="-25000">
                <a:solidFill>
                  <a:schemeClr val="dk1"/>
                </a:solidFill>
              </a:rPr>
              <a:t>1 </a:t>
            </a:r>
            <a:r>
              <a:rPr lang="en" sz="1350">
                <a:solidFill>
                  <a:schemeClr val="dk1"/>
                </a:solidFill>
              </a:rPr>
              <a:t>and x</a:t>
            </a:r>
            <a:r>
              <a:rPr lang="en" sz="1350" baseline="-25000">
                <a:solidFill>
                  <a:schemeClr val="dk1"/>
                </a:solidFill>
              </a:rPr>
              <a:t>2 </a:t>
            </a:r>
            <a:r>
              <a:rPr lang="en" sz="1350">
                <a:solidFill>
                  <a:schemeClr val="dk1"/>
                </a:solidFill>
              </a:rPr>
              <a:t> are incremented (or decremented) by the coarse step.</a:t>
            </a:r>
            <a:endParaRPr sz="1350">
              <a:solidFill>
                <a:schemeClr val="dk1"/>
              </a:solidFill>
            </a:endParaRPr>
          </a:p>
          <a:p>
            <a:pPr marL="914400" lvl="1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" sz="1350">
                <a:solidFill>
                  <a:schemeClr val="dk1"/>
                </a:solidFill>
              </a:rPr>
              <a:t>The outputs y</a:t>
            </a:r>
            <a:r>
              <a:rPr lang="en" sz="1350" baseline="-25000">
                <a:solidFill>
                  <a:schemeClr val="dk1"/>
                </a:solidFill>
              </a:rPr>
              <a:t>1 </a:t>
            </a:r>
            <a:r>
              <a:rPr lang="en" sz="1350">
                <a:solidFill>
                  <a:schemeClr val="dk1"/>
                </a:solidFill>
              </a:rPr>
              <a:t> and y</a:t>
            </a:r>
            <a:r>
              <a:rPr lang="en" sz="1350" baseline="-25000">
                <a:solidFill>
                  <a:schemeClr val="dk1"/>
                </a:solidFill>
              </a:rPr>
              <a:t>2 </a:t>
            </a:r>
            <a:r>
              <a:rPr lang="en" sz="1350">
                <a:solidFill>
                  <a:schemeClr val="dk1"/>
                </a:solidFill>
              </a:rPr>
              <a:t> are recalculated after each step.</a:t>
            </a:r>
            <a:endParaRPr sz="1350">
              <a:solidFill>
                <a:schemeClr val="dk1"/>
              </a:solidFill>
            </a:endParaRPr>
          </a:p>
          <a:p>
            <a:pPr marL="914400" lvl="1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" sz="1350">
                <a:solidFill>
                  <a:schemeClr val="dk1"/>
                </a:solidFill>
              </a:rPr>
              <a:t>The process continues iteratively until the ordering of y</a:t>
            </a:r>
            <a:r>
              <a:rPr lang="en" sz="1350" baseline="-25000">
                <a:solidFill>
                  <a:schemeClr val="dk1"/>
                </a:solidFill>
              </a:rPr>
              <a:t>1 </a:t>
            </a:r>
            <a:r>
              <a:rPr lang="en" sz="1350">
                <a:solidFill>
                  <a:schemeClr val="dk1"/>
                </a:solidFill>
              </a:rPr>
              <a:t>and y</a:t>
            </a:r>
            <a:r>
              <a:rPr lang="en" sz="1350" baseline="-25000">
                <a:solidFill>
                  <a:schemeClr val="dk1"/>
                </a:solidFill>
              </a:rPr>
              <a:t>2 </a:t>
            </a:r>
            <a:r>
              <a:rPr lang="en" sz="1350">
                <a:solidFill>
                  <a:schemeClr val="dk1"/>
                </a:solidFill>
              </a:rPr>
              <a:t> reverses, indicating that the operating point has passed through the optimal region.</a:t>
            </a:r>
            <a:endParaRPr sz="13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</a:rPr>
              <a:t>5.   Recording History</a:t>
            </a:r>
            <a:endParaRPr sz="1350" b="1">
              <a:solidFill>
                <a:schemeClr val="dk1"/>
              </a:solidFill>
            </a:endParaRPr>
          </a:p>
          <a:p>
            <a:pPr marL="914400" lvl="1" indent="-31432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" sz="1350">
                <a:solidFill>
                  <a:schemeClr val="dk1"/>
                </a:solidFill>
              </a:rPr>
              <a:t>Each iteration’s values of x</a:t>
            </a:r>
            <a:r>
              <a:rPr lang="en" sz="1350" baseline="-25000">
                <a:solidFill>
                  <a:schemeClr val="dk1"/>
                </a:solidFill>
              </a:rPr>
              <a:t>1</a:t>
            </a:r>
            <a:r>
              <a:rPr lang="en" sz="1350">
                <a:solidFill>
                  <a:schemeClr val="dk1"/>
                </a:solidFill>
              </a:rPr>
              <a:t> , x</a:t>
            </a:r>
            <a:r>
              <a:rPr lang="en" sz="1350" baseline="-25000">
                <a:solidFill>
                  <a:schemeClr val="dk1"/>
                </a:solidFill>
              </a:rPr>
              <a:t>2 </a:t>
            </a:r>
            <a:r>
              <a:rPr lang="en" sz="1350">
                <a:solidFill>
                  <a:schemeClr val="dk1"/>
                </a:solidFill>
              </a:rPr>
              <a:t>and y</a:t>
            </a:r>
            <a:r>
              <a:rPr lang="en" sz="1350" baseline="-25000">
                <a:solidFill>
                  <a:schemeClr val="dk1"/>
                </a:solidFill>
              </a:rPr>
              <a:t>1</a:t>
            </a:r>
            <a:r>
              <a:rPr lang="en" sz="1350">
                <a:solidFill>
                  <a:schemeClr val="dk1"/>
                </a:solidFill>
              </a:rPr>
              <a:t>, y</a:t>
            </a:r>
            <a:r>
              <a:rPr lang="en" sz="1350" baseline="-25000">
                <a:solidFill>
                  <a:schemeClr val="dk1"/>
                </a:solidFill>
              </a:rPr>
              <a:t>2 </a:t>
            </a:r>
            <a:r>
              <a:rPr lang="en" sz="1350">
                <a:solidFill>
                  <a:schemeClr val="dk1"/>
                </a:solidFill>
              </a:rPr>
              <a:t>are stored. This historical data is later used for plotting the tuning process.</a:t>
            </a:r>
            <a:endParaRPr sz="13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50" b="1">
                <a:solidFill>
                  <a:schemeClr val="dk1"/>
                </a:solidFill>
              </a:rPr>
              <a:t>6. Fine Tuning (Two-Point Method)</a:t>
            </a:r>
            <a:endParaRPr sz="1350" b="1">
              <a:solidFill>
                <a:schemeClr val="dk1"/>
              </a:solidFill>
            </a:endParaRPr>
          </a:p>
          <a:p>
            <a:pPr marL="457200" lvl="0" indent="-31432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AutoNum type="alphaLcPeriod"/>
            </a:pPr>
            <a:r>
              <a:rPr lang="en" sz="1350">
                <a:solidFill>
                  <a:schemeClr val="dk1"/>
                </a:solidFill>
              </a:rPr>
              <a:t>Precision Adjustment</a:t>
            </a:r>
            <a:endParaRPr sz="1350">
              <a:solidFill>
                <a:schemeClr val="dk1"/>
              </a:solidFill>
            </a:endParaRPr>
          </a:p>
          <a:p>
            <a:pPr marL="914400" lvl="1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" sz="1350">
                <a:solidFill>
                  <a:schemeClr val="dk1"/>
                </a:solidFill>
              </a:rPr>
              <a:t>Uses a much smaller step size (100 nA) compared to coarse tuning (12 A).</a:t>
            </a:r>
            <a:endParaRPr sz="1350">
              <a:solidFill>
                <a:schemeClr val="dk1"/>
              </a:solidFill>
            </a:endParaRPr>
          </a:p>
          <a:p>
            <a:pPr marL="914400" lvl="1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" sz="1350" b="1">
                <a:solidFill>
                  <a:schemeClr val="dk1"/>
                </a:solidFill>
              </a:rPr>
              <a:t>Starts from the final coarse tuning value and defines x</a:t>
            </a:r>
            <a:r>
              <a:rPr lang="en" sz="1350" b="1" baseline="-25000">
                <a:solidFill>
                  <a:schemeClr val="dk1"/>
                </a:solidFill>
              </a:rPr>
              <a:t>2,fine </a:t>
            </a:r>
            <a:r>
              <a:rPr lang="en" sz="1350" b="1">
                <a:solidFill>
                  <a:schemeClr val="dk1"/>
                </a:solidFill>
              </a:rPr>
              <a:t> slightly offset from</a:t>
            </a:r>
            <a:r>
              <a:rPr lang="en" sz="1350">
                <a:solidFill>
                  <a:schemeClr val="dk1"/>
                </a:solidFill>
              </a:rPr>
              <a:t> .</a:t>
            </a:r>
            <a:endParaRPr sz="1350">
              <a:solidFill>
                <a:schemeClr val="dk1"/>
              </a:solidFill>
            </a:endParaRPr>
          </a:p>
          <a:p>
            <a:pPr marL="457200" lvl="0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AutoNum type="alphaLcPeriod"/>
            </a:pPr>
            <a:r>
              <a:rPr lang="en" sz="1350">
                <a:solidFill>
                  <a:schemeClr val="dk1"/>
                </a:solidFill>
              </a:rPr>
              <a:t>Iterative Refinement</a:t>
            </a:r>
            <a:endParaRPr sz="1350">
              <a:solidFill>
                <a:schemeClr val="dk1"/>
              </a:solidFill>
            </a:endParaRPr>
          </a:p>
          <a:p>
            <a:pPr marL="914400" lvl="1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" sz="1350">
                <a:solidFill>
                  <a:schemeClr val="dk1"/>
                </a:solidFill>
              </a:rPr>
              <a:t>Adjusts x</a:t>
            </a:r>
            <a:r>
              <a:rPr lang="en" sz="1350" baseline="-25000">
                <a:solidFill>
                  <a:schemeClr val="dk1"/>
                </a:solidFill>
              </a:rPr>
              <a:t>1</a:t>
            </a:r>
            <a:r>
              <a:rPr lang="en" sz="1350">
                <a:solidFill>
                  <a:schemeClr val="dk1"/>
                </a:solidFill>
              </a:rPr>
              <a:t> and x</a:t>
            </a:r>
            <a:r>
              <a:rPr lang="en" sz="1350" baseline="-25000">
                <a:solidFill>
                  <a:schemeClr val="dk1"/>
                </a:solidFill>
              </a:rPr>
              <a:t>2,fine </a:t>
            </a:r>
            <a:r>
              <a:rPr lang="en" sz="1350">
                <a:solidFill>
                  <a:schemeClr val="dk1"/>
                </a:solidFill>
              </a:rPr>
              <a:t> in the same direction as coarse tuning.</a:t>
            </a:r>
            <a:endParaRPr sz="1350">
              <a:solidFill>
                <a:schemeClr val="dk1"/>
              </a:solidFill>
            </a:endParaRPr>
          </a:p>
          <a:p>
            <a:pPr marL="914400" lvl="1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○"/>
            </a:pPr>
            <a:r>
              <a:rPr lang="en" sz="1350">
                <a:solidFill>
                  <a:schemeClr val="dk1"/>
                </a:solidFill>
              </a:rPr>
              <a:t>Stops when the output response y</a:t>
            </a:r>
            <a:r>
              <a:rPr lang="en" sz="1350" baseline="-25000">
                <a:solidFill>
                  <a:schemeClr val="dk1"/>
                </a:solidFill>
              </a:rPr>
              <a:t>1</a:t>
            </a:r>
            <a:r>
              <a:rPr lang="en" sz="1350">
                <a:solidFill>
                  <a:schemeClr val="dk1"/>
                </a:solidFill>
              </a:rPr>
              <a:t>-y</a:t>
            </a:r>
            <a:r>
              <a:rPr lang="en" sz="1350" baseline="-25000">
                <a:solidFill>
                  <a:schemeClr val="dk1"/>
                </a:solidFill>
              </a:rPr>
              <a:t>2   </a:t>
            </a:r>
            <a:r>
              <a:rPr lang="en" sz="1350">
                <a:solidFill>
                  <a:schemeClr val="dk1"/>
                </a:solidFill>
              </a:rPr>
              <a:t>changes sign, indicating the </a:t>
            </a:r>
            <a:r>
              <a:rPr lang="en" sz="1350" i="1">
                <a:solidFill>
                  <a:schemeClr val="dk1"/>
                </a:solidFill>
              </a:rPr>
              <a:t>optimal point is reached</a:t>
            </a:r>
            <a:endParaRPr sz="1350" i="1">
              <a:solidFill>
                <a:schemeClr val="dk1"/>
              </a:solidFill>
            </a:endParaRPr>
          </a:p>
        </p:txBody>
      </p:sp>
      <p:sp>
        <p:nvSpPr>
          <p:cNvPr id="180" name="Google Shape;180;p27"/>
          <p:cNvSpPr txBox="1">
            <a:spLocks noGrp="1"/>
          </p:cNvSpPr>
          <p:nvPr>
            <p:ph type="sldNum" idx="12"/>
          </p:nvPr>
        </p:nvSpPr>
        <p:spPr>
          <a:xfrm>
            <a:off x="4549233" y="47498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A6BD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/>
          <p:nvPr/>
        </p:nvSpPr>
        <p:spPr>
          <a:xfrm>
            <a:off x="3575375" y="0"/>
            <a:ext cx="36096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2"/>
                </a:solidFill>
              </a:rPr>
              <a:t>Plot of I</a:t>
            </a:r>
            <a:r>
              <a:rPr lang="en" sz="2200" baseline="-25000">
                <a:solidFill>
                  <a:schemeClr val="dk2"/>
                </a:solidFill>
              </a:rPr>
              <a:t>DC</a:t>
            </a:r>
            <a:r>
              <a:rPr lang="en" sz="2200">
                <a:solidFill>
                  <a:schemeClr val="dk2"/>
                </a:solidFill>
              </a:rPr>
              <a:t> with time</a:t>
            </a:r>
            <a:endParaRPr sz="2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u="sng">
              <a:solidFill>
                <a:schemeClr val="dk2"/>
              </a:solidFill>
            </a:endParaRPr>
          </a:p>
        </p:txBody>
      </p:sp>
      <p:sp>
        <p:nvSpPr>
          <p:cNvPr id="186" name="Google Shape;186;p28"/>
          <p:cNvSpPr txBox="1"/>
          <p:nvPr/>
        </p:nvSpPr>
        <p:spPr>
          <a:xfrm>
            <a:off x="2644625" y="4514800"/>
            <a:ext cx="5471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2"/>
                </a:solidFill>
              </a:rPr>
              <a:t>Fig.8 MATLAB simulation of I</a:t>
            </a:r>
            <a:r>
              <a:rPr lang="en" sz="1200" b="1" baseline="-25000">
                <a:solidFill>
                  <a:schemeClr val="dk2"/>
                </a:solidFill>
              </a:rPr>
              <a:t>DC</a:t>
            </a:r>
            <a:r>
              <a:rPr lang="en" sz="1200" b="1">
                <a:solidFill>
                  <a:schemeClr val="dk2"/>
                </a:solidFill>
              </a:rPr>
              <a:t> with time as each loop iterates</a:t>
            </a:r>
            <a:endParaRPr sz="1200" b="1">
              <a:solidFill>
                <a:schemeClr val="dk2"/>
              </a:solidFill>
            </a:endParaRPr>
          </a:p>
        </p:txBody>
      </p:sp>
      <p:pic>
        <p:nvPicPr>
          <p:cNvPr id="187" name="Google Shape;1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450" y="570425"/>
            <a:ext cx="7524282" cy="394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8"/>
          <p:cNvSpPr txBox="1">
            <a:spLocks noGrp="1"/>
          </p:cNvSpPr>
          <p:nvPr>
            <p:ph type="sldNum" idx="12"/>
          </p:nvPr>
        </p:nvSpPr>
        <p:spPr>
          <a:xfrm>
            <a:off x="4297658" y="47252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A6BD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/>
          <p:nvPr/>
        </p:nvSpPr>
        <p:spPr>
          <a:xfrm>
            <a:off x="3190200" y="26250"/>
            <a:ext cx="3750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Plot of I</a:t>
            </a:r>
            <a:r>
              <a:rPr lang="en" sz="2200" baseline="-25000">
                <a:solidFill>
                  <a:schemeClr val="dk1"/>
                </a:solidFill>
              </a:rPr>
              <a:t>PD</a:t>
            </a:r>
            <a:r>
              <a:rPr lang="en" sz="2200">
                <a:solidFill>
                  <a:schemeClr val="dk1"/>
                </a:solidFill>
              </a:rPr>
              <a:t> with time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94" name="Google Shape;194;p29"/>
          <p:cNvSpPr txBox="1"/>
          <p:nvPr/>
        </p:nvSpPr>
        <p:spPr>
          <a:xfrm>
            <a:off x="1996200" y="4379488"/>
            <a:ext cx="613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2"/>
                </a:solidFill>
              </a:rPr>
              <a:t>      Fig.9  MATLAB simulation of I</a:t>
            </a:r>
            <a:r>
              <a:rPr lang="en" sz="1200" b="1" baseline="-25000">
                <a:solidFill>
                  <a:schemeClr val="dk2"/>
                </a:solidFill>
              </a:rPr>
              <a:t>PD</a:t>
            </a:r>
            <a:r>
              <a:rPr lang="en" sz="1200" b="1">
                <a:solidFill>
                  <a:schemeClr val="dk2"/>
                </a:solidFill>
              </a:rPr>
              <a:t> with time as each loop iterates</a:t>
            </a:r>
            <a:endParaRPr sz="1200" b="1">
              <a:solidFill>
                <a:schemeClr val="dk2"/>
              </a:solidFill>
            </a:endParaRPr>
          </a:p>
        </p:txBody>
      </p:sp>
      <p:sp>
        <p:nvSpPr>
          <p:cNvPr id="195" name="Google Shape;195;p29"/>
          <p:cNvSpPr txBox="1"/>
          <p:nvPr/>
        </p:nvSpPr>
        <p:spPr>
          <a:xfrm>
            <a:off x="3123075" y="4821625"/>
            <a:ext cx="31101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196" name="Google Shape;19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2475" y="701850"/>
            <a:ext cx="7457336" cy="367765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9"/>
          <p:cNvSpPr txBox="1">
            <a:spLocks noGrp="1"/>
          </p:cNvSpPr>
          <p:nvPr>
            <p:ph type="sldNum" idx="12"/>
          </p:nvPr>
        </p:nvSpPr>
        <p:spPr>
          <a:xfrm>
            <a:off x="4297658" y="46970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/>
        </p:nvSpPr>
        <p:spPr>
          <a:xfrm>
            <a:off x="6802925" y="2558050"/>
            <a:ext cx="2148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</a:endParaRPr>
          </a:p>
        </p:txBody>
      </p:sp>
      <p:sp>
        <p:nvSpPr>
          <p:cNvPr id="203" name="Google Shape;203;p30"/>
          <p:cNvSpPr txBox="1">
            <a:spLocks noGrp="1"/>
          </p:cNvSpPr>
          <p:nvPr>
            <p:ph type="title"/>
          </p:nvPr>
        </p:nvSpPr>
        <p:spPr>
          <a:xfrm>
            <a:off x="352050" y="715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288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Transimpedance Amplifier </a:t>
            </a:r>
            <a:endParaRPr sz="23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 u="sng"/>
          </a:p>
        </p:txBody>
      </p:sp>
      <p:sp>
        <p:nvSpPr>
          <p:cNvPr id="204" name="Google Shape;204;p30"/>
          <p:cNvSpPr txBox="1"/>
          <p:nvPr/>
        </p:nvSpPr>
        <p:spPr>
          <a:xfrm>
            <a:off x="1678625" y="4482925"/>
            <a:ext cx="6521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</a:rPr>
              <a:t>Fig.10  MATLAB simulation of  output of transimpedance amplifier with gain 2000V/A </a:t>
            </a:r>
            <a:endParaRPr sz="1000" b="1">
              <a:solidFill>
                <a:schemeClr val="dk1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7570" y="816288"/>
            <a:ext cx="7128316" cy="349461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0"/>
          <p:cNvSpPr txBox="1">
            <a:spLocks noGrp="1"/>
          </p:cNvSpPr>
          <p:nvPr>
            <p:ph type="sldNum" idx="12"/>
          </p:nvPr>
        </p:nvSpPr>
        <p:spPr>
          <a:xfrm>
            <a:off x="4297658" y="47498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 txBox="1">
            <a:spLocks noGrp="1"/>
          </p:cNvSpPr>
          <p:nvPr>
            <p:ph type="title"/>
          </p:nvPr>
        </p:nvSpPr>
        <p:spPr>
          <a:xfrm>
            <a:off x="1515050" y="83875"/>
            <a:ext cx="8520600" cy="9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Stability Test to Perturbations</a:t>
            </a:r>
            <a:endParaRPr sz="2300"/>
          </a:p>
        </p:txBody>
      </p:sp>
      <p:pic>
        <p:nvPicPr>
          <p:cNvPr id="212" name="Google Shape;21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950" y="688050"/>
            <a:ext cx="7477501" cy="3594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1"/>
          <p:cNvSpPr txBox="1"/>
          <p:nvPr/>
        </p:nvSpPr>
        <p:spPr>
          <a:xfrm>
            <a:off x="1997225" y="4282075"/>
            <a:ext cx="59904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Fig 11 :</a:t>
            </a:r>
            <a:r>
              <a:rPr lang="en" b="1">
                <a:solidFill>
                  <a:schemeClr val="dk1"/>
                </a:solidFill>
              </a:rPr>
              <a:t>-</a:t>
            </a:r>
            <a:r>
              <a:rPr lang="en" sz="1200" b="1">
                <a:solidFill>
                  <a:schemeClr val="dk1"/>
                </a:solidFill>
              </a:rPr>
              <a:t> MATLAB Simulation of I</a:t>
            </a:r>
            <a:r>
              <a:rPr lang="en" sz="1200" b="1" baseline="-25000">
                <a:solidFill>
                  <a:schemeClr val="dk1"/>
                </a:solidFill>
              </a:rPr>
              <a:t>DC  </a:t>
            </a:r>
            <a:r>
              <a:rPr lang="en" sz="1200" b="1">
                <a:solidFill>
                  <a:schemeClr val="dk1"/>
                </a:solidFill>
              </a:rPr>
              <a:t>and I</a:t>
            </a:r>
            <a:r>
              <a:rPr lang="en" sz="1200" b="1" baseline="-25000">
                <a:solidFill>
                  <a:schemeClr val="dk1"/>
                </a:solidFill>
              </a:rPr>
              <a:t>PD</a:t>
            </a:r>
            <a:r>
              <a:rPr lang="en" sz="1200" b="1">
                <a:solidFill>
                  <a:schemeClr val="dk1"/>
                </a:solidFill>
              </a:rPr>
              <a:t> upon a step perturbation </a:t>
            </a:r>
            <a:r>
              <a:rPr lang="en" baseline="-25000">
                <a:solidFill>
                  <a:schemeClr val="dk1"/>
                </a:solidFill>
              </a:rPr>
              <a:t>                 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14" name="Google Shape;214;p31"/>
          <p:cNvSpPr txBox="1">
            <a:spLocks noGrp="1"/>
          </p:cNvSpPr>
          <p:nvPr>
            <p:ph type="sldNum" idx="12"/>
          </p:nvPr>
        </p:nvSpPr>
        <p:spPr>
          <a:xfrm>
            <a:off x="4297658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215" name="Google Shape;215;p31"/>
          <p:cNvSpPr txBox="1"/>
          <p:nvPr/>
        </p:nvSpPr>
        <p:spPr>
          <a:xfrm>
            <a:off x="105575" y="4561875"/>
            <a:ext cx="90471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Time Response of I</a:t>
            </a:r>
            <a:r>
              <a:rPr lang="en" baseline="-25000" dirty="0">
                <a:solidFill>
                  <a:schemeClr val="dk1"/>
                </a:solidFill>
              </a:rPr>
              <a:t>DC  </a:t>
            </a:r>
            <a:r>
              <a:rPr lang="en" dirty="0">
                <a:solidFill>
                  <a:schemeClr val="dk1"/>
                </a:solidFill>
              </a:rPr>
              <a:t>and I</a:t>
            </a:r>
            <a:r>
              <a:rPr lang="en" baseline="-25000" dirty="0">
                <a:solidFill>
                  <a:schemeClr val="dk1"/>
                </a:solidFill>
              </a:rPr>
              <a:t>PD</a:t>
            </a:r>
            <a:r>
              <a:rPr lang="en" dirty="0">
                <a:solidFill>
                  <a:schemeClr val="dk1"/>
                </a:solidFill>
              </a:rPr>
              <a:t> to a step perturbation of 0.25 mA in I</a:t>
            </a:r>
            <a:r>
              <a:rPr lang="en" baseline="-25000" dirty="0">
                <a:solidFill>
                  <a:schemeClr val="dk1"/>
                </a:solidFill>
              </a:rPr>
              <a:t>DC </a:t>
            </a:r>
            <a:r>
              <a:rPr lang="en" dirty="0">
                <a:solidFill>
                  <a:schemeClr val="dk1"/>
                </a:solidFill>
              </a:rPr>
              <a:t>at t=1.9 ms. We can see that the algorithm is able to ‘re-track’ the minima and I</a:t>
            </a:r>
            <a:r>
              <a:rPr lang="en" baseline="-25000" dirty="0">
                <a:solidFill>
                  <a:schemeClr val="dk1"/>
                </a:solidFill>
              </a:rPr>
              <a:t>PD </a:t>
            </a:r>
            <a:r>
              <a:rPr lang="en" dirty="0">
                <a:solidFill>
                  <a:schemeClr val="dk1"/>
                </a:solidFill>
              </a:rPr>
              <a:t>gets back to zero</a:t>
            </a:r>
            <a:endParaRPr sz="20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A6BD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32" title="Coars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5912" y="475525"/>
            <a:ext cx="6572174" cy="406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2"/>
          <p:cNvSpPr txBox="1"/>
          <p:nvPr/>
        </p:nvSpPr>
        <p:spPr>
          <a:xfrm>
            <a:off x="2885575" y="0"/>
            <a:ext cx="3951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Coarse Tuning Animation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222" name="Google Shape;222;p32"/>
          <p:cNvSpPr txBox="1"/>
          <p:nvPr/>
        </p:nvSpPr>
        <p:spPr>
          <a:xfrm>
            <a:off x="1211000" y="4455825"/>
            <a:ext cx="7008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Animation 1: The trajectory followed by I</a:t>
            </a:r>
            <a:r>
              <a:rPr lang="en" sz="1200" baseline="-25000">
                <a:solidFill>
                  <a:schemeClr val="dk2"/>
                </a:solidFill>
              </a:rPr>
              <a:t>DC </a:t>
            </a:r>
            <a:r>
              <a:rPr lang="en" sz="1200">
                <a:solidFill>
                  <a:schemeClr val="dk2"/>
                </a:solidFill>
              </a:rPr>
              <a:t>in system controller 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23" name="Google Shape;223;p32"/>
          <p:cNvSpPr txBox="1">
            <a:spLocks noGrp="1"/>
          </p:cNvSpPr>
          <p:nvPr>
            <p:ph type="sldNum" idx="12"/>
          </p:nvPr>
        </p:nvSpPr>
        <p:spPr>
          <a:xfrm>
            <a:off x="4023308" y="47498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A6BD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33" title="Fin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7038" y="472350"/>
            <a:ext cx="6675276" cy="4096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3"/>
          <p:cNvSpPr txBox="1"/>
          <p:nvPr/>
        </p:nvSpPr>
        <p:spPr>
          <a:xfrm>
            <a:off x="3179050" y="30900"/>
            <a:ext cx="4403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Fine Tuning Animation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230" name="Google Shape;230;p33"/>
          <p:cNvSpPr txBox="1"/>
          <p:nvPr/>
        </p:nvSpPr>
        <p:spPr>
          <a:xfrm>
            <a:off x="1736375" y="4569025"/>
            <a:ext cx="6036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Animation 2: The trajectory followed by I</a:t>
            </a:r>
            <a:r>
              <a:rPr lang="en" sz="1200" baseline="-25000">
                <a:solidFill>
                  <a:schemeClr val="dk2"/>
                </a:solidFill>
              </a:rPr>
              <a:t>DC </a:t>
            </a:r>
            <a:r>
              <a:rPr lang="en" sz="1200">
                <a:solidFill>
                  <a:schemeClr val="dk2"/>
                </a:solidFill>
              </a:rPr>
              <a:t>in system controller 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31" name="Google Shape;231;p33"/>
          <p:cNvSpPr txBox="1">
            <a:spLocks noGrp="1"/>
          </p:cNvSpPr>
          <p:nvPr>
            <p:ph type="sldNum" idx="12"/>
          </p:nvPr>
        </p:nvSpPr>
        <p:spPr>
          <a:xfrm>
            <a:off x="4423663" y="4774200"/>
            <a:ext cx="453300" cy="36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 txBox="1">
            <a:spLocks noGrp="1"/>
          </p:cNvSpPr>
          <p:nvPr>
            <p:ph type="title"/>
          </p:nvPr>
        </p:nvSpPr>
        <p:spPr>
          <a:xfrm>
            <a:off x="311700" y="770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Overview of Work Done</a:t>
            </a:r>
            <a:endParaRPr sz="2320"/>
          </a:p>
        </p:txBody>
      </p:sp>
      <p:sp>
        <p:nvSpPr>
          <p:cNvPr id="237" name="Google Shape;237;p34"/>
          <p:cNvSpPr txBox="1">
            <a:spLocks noGrp="1"/>
          </p:cNvSpPr>
          <p:nvPr>
            <p:ph type="body" idx="1"/>
          </p:nvPr>
        </p:nvSpPr>
        <p:spPr>
          <a:xfrm>
            <a:off x="246750" y="6497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170" b="1">
                <a:solidFill>
                  <a:srgbClr val="0000FF"/>
                </a:solidFill>
              </a:rPr>
              <a:t>ULPAC Architecture Overview</a:t>
            </a:r>
            <a:r>
              <a:rPr lang="en" sz="1170">
                <a:solidFill>
                  <a:schemeClr val="dk1"/>
                </a:solidFill>
              </a:rPr>
              <a:t>: A simplified ultra-low-power atomic clock (ULPAC) system.</a:t>
            </a:r>
            <a:br>
              <a:rPr lang="en" sz="1170">
                <a:solidFill>
                  <a:schemeClr val="dk1"/>
                </a:solidFill>
              </a:rPr>
            </a:br>
            <a:endParaRPr sz="117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170" b="1">
                <a:solidFill>
                  <a:srgbClr val="0000FF"/>
                </a:solidFill>
              </a:rPr>
              <a:t>VCSEL-Based RF Signal Modulation</a:t>
            </a:r>
            <a:r>
              <a:rPr lang="en" sz="1170">
                <a:solidFill>
                  <a:schemeClr val="dk1"/>
                </a:solidFill>
              </a:rPr>
              <a:t>: A VCSEL (Vertical Cavity Surface Emitting Laser) modulated by an RF signal generates interference light for a Cs atom cell.</a:t>
            </a:r>
            <a:br>
              <a:rPr lang="en" sz="1170">
                <a:solidFill>
                  <a:schemeClr val="dk1"/>
                </a:solidFill>
              </a:rPr>
            </a:br>
            <a:endParaRPr sz="117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170" b="1">
                <a:solidFill>
                  <a:srgbClr val="0000FF"/>
                </a:solidFill>
              </a:rPr>
              <a:t>Atomic Frequency Reference</a:t>
            </a:r>
            <a:r>
              <a:rPr lang="en" sz="1170">
                <a:solidFill>
                  <a:schemeClr val="dk1"/>
                </a:solidFill>
              </a:rPr>
              <a:t>: The CPT (Coherent Population Trapping) resonance of Cs atoms provides a stable frequency reference.</a:t>
            </a:r>
            <a:br>
              <a:rPr lang="en" sz="1170">
                <a:solidFill>
                  <a:schemeClr val="dk1"/>
                </a:solidFill>
              </a:rPr>
            </a:br>
            <a:endParaRPr sz="117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170" b="1">
                <a:solidFill>
                  <a:srgbClr val="0000FF"/>
                </a:solidFill>
              </a:rPr>
              <a:t>Photodetector Feedback</a:t>
            </a:r>
            <a:r>
              <a:rPr lang="en" sz="1170">
                <a:solidFill>
                  <a:schemeClr val="dk1"/>
                </a:solidFill>
              </a:rPr>
              <a:t>: A photodetector (PD) detects the resonance signal, which is used to correct and stabilize the VCXO (Voltage-Controlled Crystal Oscillator) frequency.</a:t>
            </a:r>
            <a:br>
              <a:rPr lang="en" sz="1170">
                <a:solidFill>
                  <a:schemeClr val="dk1"/>
                </a:solidFill>
              </a:rPr>
            </a:br>
            <a:endParaRPr sz="117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170" b="1">
                <a:solidFill>
                  <a:srgbClr val="0000FF"/>
                </a:solidFill>
              </a:rPr>
              <a:t>Wavelength Locking</a:t>
            </a:r>
            <a:r>
              <a:rPr lang="en" sz="1170">
                <a:solidFill>
                  <a:schemeClr val="dk1"/>
                </a:solidFill>
              </a:rPr>
              <a:t>: A current-source bank maintains the VCSEL wavelength at 894.6 nm.</a:t>
            </a:r>
            <a:br>
              <a:rPr lang="en" sz="1170">
                <a:solidFill>
                  <a:schemeClr val="dk1"/>
                </a:solidFill>
              </a:rPr>
            </a:br>
            <a:endParaRPr sz="117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170" b="1">
                <a:solidFill>
                  <a:srgbClr val="FF0000"/>
                </a:solidFill>
              </a:rPr>
              <a:t>Frequency Locking via PLL</a:t>
            </a:r>
            <a:r>
              <a:rPr lang="en" sz="1170">
                <a:solidFill>
                  <a:schemeClr val="dk1"/>
                </a:solidFill>
              </a:rPr>
              <a:t>: A Phase-Locked Loop (PLL) locks the modulation RF signal frequency to half the Cs hyperfine frequency (hf) using multiplication.</a:t>
            </a:r>
            <a:br>
              <a:rPr lang="en" sz="1170">
                <a:solidFill>
                  <a:schemeClr val="dk1"/>
                </a:solidFill>
              </a:rPr>
            </a:br>
            <a:endParaRPr sz="117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170" b="1">
                <a:solidFill>
                  <a:srgbClr val="FF0000"/>
                </a:solidFill>
              </a:rPr>
              <a:t>CPT Resonance Locking</a:t>
            </a:r>
            <a:r>
              <a:rPr lang="en" sz="1170">
                <a:solidFill>
                  <a:schemeClr val="dk1"/>
                </a:solidFill>
              </a:rPr>
              <a:t>: Feedback loops detect and lock the CPT resonance dip.</a:t>
            </a:r>
            <a:endParaRPr sz="117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170" b="1">
                <a:solidFill>
                  <a:srgbClr val="FF0000"/>
                </a:solidFill>
              </a:rPr>
              <a:t>Stable 10-MHz Output</a:t>
            </a:r>
            <a:r>
              <a:rPr lang="en" sz="1170">
                <a:solidFill>
                  <a:schemeClr val="dk1"/>
                </a:solidFill>
              </a:rPr>
              <a:t>: The VCXO output (10 MHz) inherits the stability of the 133Cs CPT resonance.</a:t>
            </a:r>
            <a:endParaRPr sz="117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endParaRPr sz="1660"/>
          </a:p>
        </p:txBody>
      </p:sp>
      <p:sp>
        <p:nvSpPr>
          <p:cNvPr id="238" name="Google Shape;238;p34"/>
          <p:cNvSpPr/>
          <p:nvPr/>
        </p:nvSpPr>
        <p:spPr>
          <a:xfrm>
            <a:off x="7172650" y="4158875"/>
            <a:ext cx="219300" cy="191100"/>
          </a:xfrm>
          <a:prstGeom prst="rect">
            <a:avLst/>
          </a:prstGeom>
          <a:solidFill>
            <a:srgbClr val="1155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34"/>
          <p:cNvSpPr/>
          <p:nvPr/>
        </p:nvSpPr>
        <p:spPr>
          <a:xfrm>
            <a:off x="7172650" y="4579250"/>
            <a:ext cx="219300" cy="1911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34"/>
          <p:cNvSpPr txBox="1"/>
          <p:nvPr/>
        </p:nvSpPr>
        <p:spPr>
          <a:xfrm>
            <a:off x="7391950" y="3973850"/>
            <a:ext cx="161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:</a:t>
            </a:r>
            <a:r>
              <a:rPr lang="en">
                <a:solidFill>
                  <a:schemeClr val="dk2"/>
                </a:solidFill>
              </a:rPr>
              <a:t>Completed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1" name="Google Shape;241;p34"/>
          <p:cNvSpPr txBox="1"/>
          <p:nvPr/>
        </p:nvSpPr>
        <p:spPr>
          <a:xfrm>
            <a:off x="7391950" y="4474700"/>
            <a:ext cx="175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:To be done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2" name="Google Shape;242;p34"/>
          <p:cNvSpPr txBox="1">
            <a:spLocks noGrp="1"/>
          </p:cNvSpPr>
          <p:nvPr>
            <p:ph type="sldNum" idx="12"/>
          </p:nvPr>
        </p:nvSpPr>
        <p:spPr>
          <a:xfrm>
            <a:off x="4091558" y="477034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225"/>
            <a:ext cx="9101573" cy="5082274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5"/>
          <p:cNvSpPr txBox="1">
            <a:spLocks noGrp="1"/>
          </p:cNvSpPr>
          <p:nvPr>
            <p:ph type="sldNum" idx="12"/>
          </p:nvPr>
        </p:nvSpPr>
        <p:spPr>
          <a:xfrm>
            <a:off x="4276445" y="4508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/>
              <a:t>References</a:t>
            </a:r>
            <a:endParaRPr sz="2220"/>
          </a:p>
        </p:txBody>
      </p:sp>
      <p:sp>
        <p:nvSpPr>
          <p:cNvPr id="254" name="Google Shape;254;p36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H. Zhang </a:t>
            </a:r>
            <a:r>
              <a:rPr lang="en" sz="1200" i="1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et al</a:t>
            </a: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., "29.4 Ultra-Low-Power Atomic Clock for Satellite Constellation with 2.2×10-12 Long-Term Allan Deviation Using Cesium Coherent Population Trapping," </a:t>
            </a:r>
            <a:r>
              <a:rPr lang="en" sz="1200" i="1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2019 IEEE International Solid-State Circuits Conference - (ISSCC)</a:t>
            </a: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San Francisco, CA, USA, 2019, pp. 462-464</a:t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just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C. Wang </a:t>
            </a:r>
            <a:r>
              <a:rPr lang="en" sz="1200" i="1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et al</a:t>
            </a: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.,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"Chip-Scale Terahertz Carbonyl Sulfide Clock: An Overview and Recent Studies on Long-Term Frequency Stability of OCS Transitions," in </a:t>
            </a:r>
            <a:r>
              <a:rPr lang="en" sz="1200" i="1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IEEE Transactions on Terahertz Science and Technology</a:t>
            </a: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vol. 9, no. 4, pp. 349-363, July 2019.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C. Wang </a:t>
            </a:r>
            <a:r>
              <a:rPr lang="en" sz="1200" i="1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et al</a:t>
            </a: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.,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An on-chip fully electronic molecular clock based on sub-terahertz rotational spectroscopy. </a:t>
            </a:r>
            <a:r>
              <a:rPr lang="en" sz="1200" i="1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Nature Electronics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1, 421–427 (2018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Kitching, John. "Chip-scale atomic devices." </a:t>
            </a:r>
            <a:r>
              <a:rPr lang="en" sz="1200" i="1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Applied Physics Reviews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5.3 (2018)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Azhar Yaseen, “Chip Scale Atomic Clock - Architecture Technical Report” [unpublished manuscript as on 9th May 2025]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25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1721</Words>
  <Application>Microsoft Office PowerPoint</Application>
  <PresentationFormat>On-screen Show (16:9)</PresentationFormat>
  <Paragraphs>150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Merriweather</vt:lpstr>
      <vt:lpstr>Times New Roman</vt:lpstr>
      <vt:lpstr>Arial</vt:lpstr>
      <vt:lpstr>Roboto</vt:lpstr>
      <vt:lpstr>Simple Light</vt:lpstr>
      <vt:lpstr>ULPAC: A Miniaturized Ultralow-Power Atomic Clock DEP Presentation (CP301) </vt:lpstr>
      <vt:lpstr>Introduction</vt:lpstr>
      <vt:lpstr>Block Diagram Description</vt:lpstr>
      <vt:lpstr>PowerPoint Presentation</vt:lpstr>
      <vt:lpstr>PowerPoint Presentation</vt:lpstr>
      <vt:lpstr>PowerPoint Presentation</vt:lpstr>
      <vt:lpstr>Initial IDC &amp;  IPD </vt:lpstr>
      <vt:lpstr>Lock in Detection </vt:lpstr>
      <vt:lpstr>PowerPoint Presentation</vt:lpstr>
      <vt:lpstr>PowerPoint Presentation</vt:lpstr>
      <vt:lpstr>PowerPoint Presentation</vt:lpstr>
      <vt:lpstr>PowerPoint Presentation</vt:lpstr>
      <vt:lpstr>VCSEL Current driver circuit operation  </vt:lpstr>
      <vt:lpstr>PowerPoint Presentation</vt:lpstr>
      <vt:lpstr>PowerPoint Presentation</vt:lpstr>
      <vt:lpstr>PowerPoint Presentation</vt:lpstr>
      <vt:lpstr>PowerPoint Presentation</vt:lpstr>
      <vt:lpstr>Transimpedance Amplifier  </vt:lpstr>
      <vt:lpstr>Stability Test to Perturbations</vt:lpstr>
      <vt:lpstr>PowerPoint Presentation</vt:lpstr>
      <vt:lpstr>PowerPoint Presentation</vt:lpstr>
      <vt:lpstr>Overview of Work Done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Srijan Kar</cp:lastModifiedBy>
  <cp:revision>2</cp:revision>
  <dcterms:modified xsi:type="dcterms:W3CDTF">2025-05-10T06:13:58Z</dcterms:modified>
</cp:coreProperties>
</file>